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8" r:id="rId8"/>
    <p:sldId id="262" r:id="rId9"/>
    <p:sldId id="263" r:id="rId10"/>
    <p:sldId id="264" r:id="rId11"/>
    <p:sldId id="265" r:id="rId12"/>
    <p:sldId id="270" r:id="rId13"/>
  </p:sldIdLst>
  <p:sldSz cx="18288000" cy="10287000"/>
  <p:notesSz cx="6858000" cy="9144000"/>
  <p:embeddedFontLst>
    <p:embeddedFont>
      <p:font typeface="Open Sans Medium" charset="0"/>
      <p:regular r:id="rId14"/>
    </p:embeddedFont>
    <p:embeddedFont>
      <p:font typeface="Poppins Medium" charset="0"/>
      <p:regular r:id="rId15"/>
    </p:embeddedFon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Poppins Semi-Bold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D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-946" y="-25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150713" cy="10287000"/>
            <a:chOff x="0" y="0"/>
            <a:chExt cx="437060" cy="5516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060" cy="551613"/>
            </a:xfrm>
            <a:custGeom>
              <a:avLst/>
              <a:gdLst/>
              <a:ahLst/>
              <a:cxnLst/>
              <a:rect l="l" t="t" r="r" b="b"/>
              <a:pathLst>
                <a:path w="437060" h="551613">
                  <a:moveTo>
                    <a:pt x="0" y="0"/>
                  </a:moveTo>
                  <a:lnTo>
                    <a:pt x="437060" y="0"/>
                  </a:lnTo>
                  <a:lnTo>
                    <a:pt x="437060" y="551613"/>
                  </a:lnTo>
                  <a:lnTo>
                    <a:pt x="0" y="551613"/>
                  </a:lnTo>
                  <a:close/>
                </a:path>
              </a:pathLst>
            </a:custGeom>
            <a:solidFill>
              <a:srgbClr val="32184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895176" y="3353401"/>
            <a:ext cx="497648" cy="49764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7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643570" y="3812949"/>
            <a:ext cx="8615730" cy="3616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600"/>
              </a:lnSpc>
            </a:pPr>
            <a:r>
              <a:rPr lang="en-US" sz="9600" dirty="0">
                <a:solidFill>
                  <a:schemeClr val="bg1"/>
                </a:solidFill>
                <a:latin typeface="+mj-lt"/>
              </a:rPr>
              <a:t>PLAGIARISM CHECKER</a:t>
            </a:r>
            <a:endParaRPr lang="en-US" sz="12920" b="1" spc="258" dirty="0">
              <a:solidFill>
                <a:schemeClr val="bg1"/>
              </a:solidFill>
              <a:latin typeface="+mj-lt"/>
              <a:ea typeface="Poppins Semi-Bold"/>
              <a:cs typeface="Poppins Semi-Bold"/>
              <a:sym typeface="Poppins Semi-Bold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150713" cy="10287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150713" cy="10287000"/>
            <a:chOff x="0" y="0"/>
            <a:chExt cx="437060" cy="5516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060" cy="551613"/>
            </a:xfrm>
            <a:custGeom>
              <a:avLst/>
              <a:gdLst/>
              <a:ahLst/>
              <a:cxnLst/>
              <a:rect l="l" t="t" r="r" b="b"/>
              <a:pathLst>
                <a:path w="437060" h="551613">
                  <a:moveTo>
                    <a:pt x="0" y="0"/>
                  </a:moveTo>
                  <a:lnTo>
                    <a:pt x="437060" y="0"/>
                  </a:lnTo>
                  <a:lnTo>
                    <a:pt x="437060" y="551613"/>
                  </a:lnTo>
                  <a:lnTo>
                    <a:pt x="0" y="551613"/>
                  </a:lnTo>
                  <a:close/>
                </a:path>
              </a:pathLst>
            </a:custGeom>
            <a:solidFill>
              <a:srgbClr val="32184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8643570" y="3812949"/>
            <a:ext cx="8615730" cy="673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Project for Programming Fundamentals Lab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FAST NUCES Peshawar</a:t>
            </a:r>
          </a:p>
          <a:p>
            <a:endParaRPr lang="en-US" sz="4000" b="1" dirty="0" smtClean="0">
              <a:solidFill>
                <a:schemeClr val="bg1"/>
              </a:solidFill>
            </a:endParaRPr>
          </a:p>
          <a:p>
            <a:endParaRPr lang="en-US" sz="4000" b="1" dirty="0">
              <a:solidFill>
                <a:schemeClr val="bg1"/>
              </a:solidFill>
            </a:endParaRPr>
          </a:p>
          <a:p>
            <a:r>
              <a:rPr lang="en-US" sz="4000" b="1" dirty="0" smtClean="0">
                <a:solidFill>
                  <a:schemeClr val="bg1"/>
                </a:solidFill>
              </a:rPr>
              <a:t>Team </a:t>
            </a:r>
            <a:r>
              <a:rPr lang="en-US" sz="4000" b="1" dirty="0">
                <a:solidFill>
                  <a:schemeClr val="bg1"/>
                </a:solidFill>
              </a:rPr>
              <a:t>Members:</a:t>
            </a: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 err="1">
                <a:solidFill>
                  <a:schemeClr val="bg1"/>
                </a:solidFill>
              </a:rPr>
              <a:t>Mohsin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smtClean="0">
                <a:solidFill>
                  <a:schemeClr val="bg1"/>
                </a:solidFill>
              </a:rPr>
              <a:t>Ali</a:t>
            </a: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 err="1">
                <a:solidFill>
                  <a:schemeClr val="bg1"/>
                </a:solidFill>
              </a:rPr>
              <a:t>Amna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 smtClean="0">
                <a:solidFill>
                  <a:schemeClr val="bg1"/>
                </a:solidFill>
              </a:rPr>
              <a:t>Maqsood</a:t>
            </a:r>
            <a:endParaRPr lang="en-US" sz="4000" dirty="0" smtClean="0">
              <a:solidFill>
                <a:schemeClr val="bg1"/>
              </a:solidFill>
            </a:endParaRPr>
          </a:p>
          <a:p>
            <a:r>
              <a:rPr lang="en-US" sz="4000" dirty="0" err="1" smtClean="0">
                <a:solidFill>
                  <a:schemeClr val="bg1"/>
                </a:solidFill>
              </a:rPr>
              <a:t>Momina</a:t>
            </a:r>
            <a:r>
              <a:rPr lang="en-US" sz="4000" dirty="0" smtClean="0">
                <a:solidFill>
                  <a:schemeClr val="bg1"/>
                </a:solidFill>
              </a:rPr>
              <a:t> Ahmad</a:t>
            </a:r>
            <a:endParaRPr lang="en-US" sz="4000" dirty="0">
              <a:solidFill>
                <a:schemeClr val="bg1"/>
              </a:solidFill>
            </a:endParaRPr>
          </a:p>
          <a:p>
            <a:pPr algn="r">
              <a:lnSpc>
                <a:spcPts val="14600"/>
              </a:lnSpc>
            </a:pPr>
            <a:endParaRPr lang="en-US" sz="4800" b="1" spc="258" dirty="0">
              <a:solidFill>
                <a:schemeClr val="bg1"/>
              </a:solidFill>
              <a:latin typeface="+mj-lt"/>
              <a:ea typeface="Poppins Semi-Bold"/>
              <a:cs typeface="Poppins Semi-Bold"/>
              <a:sym typeface="Poppins Semi-Bold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"/>
            <a:ext cx="8150713" cy="1027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4928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1263097" y="4457700"/>
            <a:ext cx="6476937" cy="464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Plagiarism is a major issue in academic institutions.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Manual checking is slow, inaccurate, and exhausting.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Our project provides an </a:t>
            </a:r>
            <a:r>
              <a:rPr lang="en-US" sz="2800" b="1" dirty="0">
                <a:solidFill>
                  <a:schemeClr val="bg1"/>
                </a:solidFill>
              </a:rPr>
              <a:t>automated, reliable, and fast plagiarism detection system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Works for both:</a:t>
            </a:r>
          </a:p>
          <a:p>
            <a:r>
              <a:rPr lang="en-US" sz="2800" b="1" dirty="0" smtClean="0">
                <a:solidFill>
                  <a:schemeClr val="bg1"/>
                </a:solidFill>
              </a:rPr>
              <a:t>	Text </a:t>
            </a:r>
            <a:r>
              <a:rPr lang="en-US" sz="2800" b="1" dirty="0">
                <a:solidFill>
                  <a:schemeClr val="bg1"/>
                </a:solidFill>
              </a:rPr>
              <a:t>documents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 smtClean="0">
                <a:solidFill>
                  <a:schemeClr val="bg1"/>
                </a:solidFill>
              </a:rPr>
              <a:t>	Programming </a:t>
            </a:r>
            <a:r>
              <a:rPr lang="en-US" sz="2800" b="1" dirty="0">
                <a:solidFill>
                  <a:schemeClr val="bg1"/>
                </a:solidFill>
              </a:rPr>
              <a:t>code files</a:t>
            </a:r>
            <a:endParaRPr lang="en-US" sz="2800" dirty="0">
              <a:solidFill>
                <a:schemeClr val="bg1"/>
              </a:solidFill>
            </a:endParaRPr>
          </a:p>
          <a:p>
            <a:pPr algn="l">
              <a:lnSpc>
                <a:spcPts val="2829"/>
              </a:lnSpc>
            </a:pPr>
            <a:endParaRPr lang="en-US" sz="2400" b="1" dirty="0">
              <a:solidFill>
                <a:schemeClr val="bg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63098" y="1207075"/>
            <a:ext cx="7897914" cy="122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7"/>
              </a:lnSpc>
              <a:spcBef>
                <a:spcPct val="0"/>
              </a:spcBef>
            </a:pPr>
            <a:r>
              <a:rPr lang="en-US" sz="7962" b="1" u="none" strike="noStrike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Introduction to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3098" y="2415650"/>
            <a:ext cx="7897914" cy="122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7"/>
              </a:lnSpc>
              <a:spcBef>
                <a:spcPct val="0"/>
              </a:spcBef>
            </a:pPr>
            <a:r>
              <a:rPr lang="en-US" sz="7962" b="1" dirty="0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 Project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0"/>
            <a:ext cx="7239000" cy="10287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8763000" y="2933700"/>
            <a:ext cx="7696200" cy="6455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Students often copy assignments, code, and reports.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Teachers spend hours comparing documents manually.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Existing tools: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Expensive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Work only for text or only for code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Not customizable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There is a need for a </a:t>
            </a:r>
            <a:r>
              <a:rPr lang="en-US" sz="3600" b="1" dirty="0">
                <a:solidFill>
                  <a:schemeClr val="bg1"/>
                </a:solidFill>
              </a:rPr>
              <a:t>simple, fast, and unified plagiarism checker</a:t>
            </a:r>
            <a:r>
              <a:rPr lang="en-US" sz="3600" dirty="0">
                <a:solidFill>
                  <a:schemeClr val="bg1"/>
                </a:solidFill>
              </a:rPr>
              <a:t> for both text and code.</a:t>
            </a:r>
          </a:p>
          <a:p>
            <a:pPr algn="l">
              <a:lnSpc>
                <a:spcPts val="2829"/>
              </a:lnSpc>
            </a:pPr>
            <a:endParaRPr lang="en-US" sz="3200" b="1" dirty="0">
              <a:solidFill>
                <a:schemeClr val="bg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872999" y="1178500"/>
            <a:ext cx="8386301" cy="104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8014"/>
              </a:lnSpc>
              <a:spcBef>
                <a:spcPct val="0"/>
              </a:spcBef>
            </a:pPr>
            <a:r>
              <a:rPr lang="en-US" sz="8000" dirty="0">
                <a:solidFill>
                  <a:schemeClr val="bg1"/>
                </a:solidFill>
                <a:latin typeface="+mj-lt"/>
              </a:rPr>
              <a:t>Problem Statement</a:t>
            </a:r>
            <a:endParaRPr lang="en-US" sz="7200" b="1" dirty="0">
              <a:solidFill>
                <a:schemeClr val="bg1"/>
              </a:solidFill>
              <a:latin typeface="+mj-lt"/>
              <a:ea typeface="Poppins Semi-Bold"/>
              <a:cs typeface="Poppins Semi-Bold"/>
              <a:sym typeface="Poppins Semi-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"/>
            <a:ext cx="7391400" cy="101650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1143000" y="4000500"/>
            <a:ext cx="6476937" cy="590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</a:t>
            </a:r>
            <a:r>
              <a:rPr lang="en-US" sz="3600" b="1" dirty="0">
                <a:solidFill>
                  <a:schemeClr val="bg1"/>
                </a:solidFill>
              </a:rPr>
              <a:t>dual-mode plagiarism checker</a:t>
            </a:r>
            <a:r>
              <a:rPr lang="en-US" sz="3600" dirty="0">
                <a:solidFill>
                  <a:schemeClr val="bg1"/>
                </a:solidFill>
              </a:rPr>
              <a:t> that supports: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✔ Text File Plagiarism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✔ Code Plagiarism</a:t>
            </a:r>
          </a:p>
          <a:p>
            <a:r>
              <a:rPr lang="en-US" sz="3600" dirty="0">
                <a:solidFill>
                  <a:schemeClr val="bg1"/>
                </a:solidFill>
              </a:rPr>
              <a:t>Provides:</a:t>
            </a:r>
          </a:p>
          <a:p>
            <a:pPr marL="1028700" lvl="1" indent="-5715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Preprocessing</a:t>
            </a:r>
          </a:p>
          <a:p>
            <a:pPr marL="1028700" lvl="1" indent="-5715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Tokenization</a:t>
            </a:r>
          </a:p>
          <a:p>
            <a:pPr marL="1028700" lvl="1" indent="-5715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Similarity measurement</a:t>
            </a:r>
          </a:p>
          <a:p>
            <a:pPr marL="1028700" lvl="1" indent="-5715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Automatic comparison</a:t>
            </a:r>
          </a:p>
          <a:p>
            <a:pPr marL="1028700" lvl="1" indent="-5715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User-friendly reporting</a:t>
            </a:r>
          </a:p>
          <a:p>
            <a:pPr algn="l">
              <a:lnSpc>
                <a:spcPts val="2829"/>
              </a:lnSpc>
            </a:pPr>
            <a:endParaRPr lang="en-US" sz="3200" b="1" dirty="0">
              <a:solidFill>
                <a:srgbClr val="FFFFFF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63098" y="1207075"/>
            <a:ext cx="8566702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97"/>
              </a:lnSpc>
              <a:spcBef>
                <a:spcPct val="0"/>
              </a:spcBef>
            </a:pPr>
            <a:r>
              <a:rPr lang="en-US" sz="7962" b="1" dirty="0" smtClean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Proposed Solution</a:t>
            </a:r>
            <a:endParaRPr lang="en-US" sz="7962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0"/>
            <a:ext cx="8839200" cy="10287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8026132" y="3728578"/>
            <a:ext cx="6985268" cy="6391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Handles .txt, .c, .</a:t>
            </a:r>
            <a:r>
              <a:rPr lang="en-US" sz="2400" b="1" dirty="0" err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pdf</a:t>
            </a:r>
            <a:r>
              <a:rPr lang="en-US" sz="24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, .</a:t>
            </a:r>
            <a:r>
              <a:rPr lang="en-US" sz="2400" b="1" dirty="0" err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docx</a:t>
            </a:r>
            <a:endParaRPr lang="en-US" sz="2400" b="1" dirty="0">
              <a:solidFill>
                <a:srgbClr val="FFFFFF"/>
              </a:solidFill>
              <a:latin typeface="Open Sans Medium"/>
              <a:ea typeface="Open Sans Medium"/>
              <a:cs typeface="Open Sans Medium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Cleans text (lowercase, remove punctuation, spaces)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Normalizes code (remove comments, placeholders</a:t>
            </a:r>
            <a:r>
              <a:rPr lang="en-US" sz="2400" b="1" dirty="0" smtClean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)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b="1" dirty="0">
              <a:solidFill>
                <a:srgbClr val="FFFFFF"/>
              </a:solidFill>
              <a:latin typeface="Open Sans Medium"/>
              <a:ea typeface="Open Sans Medium"/>
              <a:cs typeface="Open Sans Medium"/>
            </a:endParaRPr>
          </a:p>
          <a:p>
            <a:r>
              <a:rPr lang="en-US" sz="2800" b="1" dirty="0">
                <a:solidFill>
                  <a:srgbClr val="CB5EFF"/>
                </a:solidFill>
                <a:latin typeface="Poppins Medium"/>
                <a:ea typeface="Poppins Medium"/>
                <a:cs typeface="Poppins Medium"/>
              </a:rPr>
              <a:t>Module B – User Interface &amp; Reporting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Menu system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Displays results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Generates reports</a:t>
            </a:r>
          </a:p>
          <a:p>
            <a:endParaRPr lang="en-US" sz="2800" b="1" dirty="0" smtClean="0">
              <a:solidFill>
                <a:srgbClr val="CB5EFF"/>
              </a:solidFill>
              <a:latin typeface="Poppins Medium"/>
              <a:ea typeface="Poppins Medium"/>
              <a:cs typeface="Poppins Medium"/>
            </a:endParaRPr>
          </a:p>
          <a:p>
            <a:r>
              <a:rPr lang="en-US" sz="2800" b="1" dirty="0" smtClean="0">
                <a:solidFill>
                  <a:srgbClr val="CB5EFF"/>
                </a:solidFill>
                <a:latin typeface="Poppins Medium"/>
                <a:ea typeface="Poppins Medium"/>
                <a:cs typeface="Poppins Medium"/>
              </a:rPr>
              <a:t>Module </a:t>
            </a:r>
            <a:r>
              <a:rPr lang="en-US" sz="2800" b="1" dirty="0">
                <a:solidFill>
                  <a:srgbClr val="CB5EFF"/>
                </a:solidFill>
                <a:latin typeface="Poppins Medium"/>
                <a:ea typeface="Poppins Medium"/>
                <a:cs typeface="Poppins Medium"/>
              </a:rPr>
              <a:t>C – Algorithms &amp; Integration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Tokenization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N-gram </a:t>
            </a:r>
            <a:r>
              <a:rPr lang="en-US" sz="2400" b="1" dirty="0" smtClean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generation</a:t>
            </a:r>
            <a:endParaRPr lang="en-US" sz="2400" b="1" dirty="0">
              <a:solidFill>
                <a:srgbClr val="FFFFFF"/>
              </a:solidFill>
              <a:latin typeface="Open Sans Medium"/>
              <a:ea typeface="Open Sans Medium"/>
              <a:cs typeface="Open Sans Medium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</a:rPr>
              <a:t>Final similarity calculation</a:t>
            </a:r>
          </a:p>
          <a:p>
            <a:endParaRPr lang="en-US" sz="2000" b="1" dirty="0">
              <a:solidFill>
                <a:srgbClr val="FFFFFF"/>
              </a:solidFill>
              <a:latin typeface="Open Sans Medium"/>
              <a:ea typeface="Open Sans Medium"/>
              <a:cs typeface="Open Sans Medium"/>
            </a:endParaRPr>
          </a:p>
          <a:p>
            <a:pPr marL="342900" indent="-342900" algn="l">
              <a:lnSpc>
                <a:spcPts val="2829"/>
              </a:lnSpc>
              <a:buFont typeface="Arial" pitchFamily="34" charset="0"/>
              <a:buChar char="•"/>
            </a:pPr>
            <a:endParaRPr lang="en-US" sz="2000" b="1" dirty="0">
              <a:solidFill>
                <a:srgbClr val="FFFFFF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051666" y="3009900"/>
            <a:ext cx="7583836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72"/>
              </a:lnSpc>
            </a:pPr>
            <a:r>
              <a:rPr lang="en-US" sz="2800" b="1" dirty="0">
                <a:solidFill>
                  <a:srgbClr val="CB5EFF"/>
                </a:solidFill>
                <a:latin typeface="Poppins Medium"/>
                <a:ea typeface="Poppins Medium"/>
                <a:cs typeface="Poppins Medium"/>
              </a:rPr>
              <a:t>Module A – Preprocessing &amp; File Handling</a:t>
            </a:r>
            <a:endParaRPr lang="en-US" sz="2800" b="1" dirty="0">
              <a:solidFill>
                <a:srgbClr val="CB5E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051666" y="495300"/>
            <a:ext cx="8119602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014"/>
              </a:lnSpc>
              <a:spcBef>
                <a:spcPct val="0"/>
              </a:spcBef>
            </a:pPr>
            <a:r>
              <a:rPr lang="en-US" sz="8000" dirty="0">
                <a:solidFill>
                  <a:schemeClr val="bg1"/>
                </a:solidFill>
                <a:latin typeface="+mj-lt"/>
              </a:rPr>
              <a:t>System Architecture</a:t>
            </a:r>
            <a:endParaRPr lang="en-US" sz="7200" b="1" dirty="0">
              <a:solidFill>
                <a:schemeClr val="bg1"/>
              </a:solidFill>
              <a:latin typeface="+mj-lt"/>
              <a:ea typeface="Poppins Semi-Bold"/>
              <a:cs typeface="Poppins Semi-Bold"/>
              <a:sym typeface="Poppins Semi-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77000" cy="10287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0"/>
            <a:ext cx="11049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41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1770" y="0"/>
            <a:ext cx="4126230" cy="10287000"/>
          </a:xfrm>
          <a:prstGeom prst="rect">
            <a:avLst/>
          </a:prstGeom>
        </p:spPr>
      </p:pic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Technologies Used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>
          <a:xfrm>
            <a:off x="2286000" y="1638300"/>
            <a:ext cx="8229600" cy="75819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Language:</a:t>
            </a:r>
            <a:r>
              <a:rPr lang="en-US" sz="4000" dirty="0" smtClean="0">
                <a:solidFill>
                  <a:schemeClr val="bg1"/>
                </a:solidFill>
              </a:rPr>
              <a:t> C</a:t>
            </a: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Libraries:</a:t>
            </a:r>
            <a:endParaRPr lang="en-US" sz="4000" dirty="0">
              <a:solidFill>
                <a:schemeClr val="bg1"/>
              </a:solidFill>
            </a:endParaRPr>
          </a:p>
          <a:p>
            <a:pPr lvl="1"/>
            <a:r>
              <a:rPr lang="en-US" sz="3600" dirty="0" err="1">
                <a:solidFill>
                  <a:schemeClr val="bg1"/>
                </a:solidFill>
              </a:rPr>
              <a:t>stdio.h</a:t>
            </a:r>
            <a:endParaRPr lang="en-US" sz="3600" dirty="0">
              <a:solidFill>
                <a:schemeClr val="bg1"/>
              </a:solidFill>
            </a:endParaRPr>
          </a:p>
          <a:p>
            <a:pPr lvl="1"/>
            <a:r>
              <a:rPr lang="en-US" sz="3600" dirty="0" err="1">
                <a:solidFill>
                  <a:schemeClr val="bg1"/>
                </a:solidFill>
              </a:rPr>
              <a:t>string.h</a:t>
            </a:r>
            <a:endParaRPr lang="en-US" sz="3600" dirty="0">
              <a:solidFill>
                <a:schemeClr val="bg1"/>
              </a:solidFill>
            </a:endParaRPr>
          </a:p>
          <a:p>
            <a:pPr lvl="1"/>
            <a:r>
              <a:rPr lang="en-US" sz="3600" dirty="0" err="1">
                <a:solidFill>
                  <a:schemeClr val="bg1"/>
                </a:solidFill>
              </a:rPr>
              <a:t>ctype.h</a:t>
            </a:r>
            <a:endParaRPr lang="en-US" sz="3600" dirty="0">
              <a:solidFill>
                <a:schemeClr val="bg1"/>
              </a:solidFill>
            </a:endParaRPr>
          </a:p>
          <a:p>
            <a:pPr lvl="1"/>
            <a:r>
              <a:rPr lang="en-US" sz="3600" dirty="0" err="1">
                <a:solidFill>
                  <a:schemeClr val="bg1"/>
                </a:solidFill>
              </a:rPr>
              <a:t>math.h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Algorithms:</a:t>
            </a:r>
            <a:endParaRPr lang="en-US" sz="4000" dirty="0">
              <a:solidFill>
                <a:schemeClr val="bg1"/>
              </a:solidFill>
            </a:endParaRPr>
          </a:p>
          <a:p>
            <a:pPr lvl="1"/>
            <a:r>
              <a:rPr lang="en-US" sz="3600" dirty="0" smtClean="0">
                <a:solidFill>
                  <a:schemeClr val="bg1"/>
                </a:solidFill>
              </a:rPr>
              <a:t>N-gram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Tools:</a:t>
            </a:r>
            <a:endParaRPr lang="en-US" sz="4000" dirty="0">
              <a:solidFill>
                <a:schemeClr val="bg1"/>
              </a:solidFill>
            </a:endParaRPr>
          </a:p>
          <a:p>
            <a:pPr lvl="1"/>
            <a:r>
              <a:rPr lang="en-US" sz="3600" dirty="0" err="1">
                <a:solidFill>
                  <a:schemeClr val="bg1"/>
                </a:solidFill>
              </a:rPr>
              <a:t>pdftotext</a:t>
            </a:r>
            <a:endParaRPr lang="en-US" sz="3600" dirty="0">
              <a:solidFill>
                <a:schemeClr val="bg1"/>
              </a:solidFill>
            </a:endParaRPr>
          </a:p>
          <a:p>
            <a:pPr lvl="1"/>
            <a:r>
              <a:rPr lang="en-US" sz="3600" dirty="0">
                <a:solidFill>
                  <a:schemeClr val="bg1"/>
                </a:solidFill>
              </a:rPr>
              <a:t>docx2txt</a:t>
            </a:r>
          </a:p>
          <a:p>
            <a:endParaRPr 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838200" y="3695700"/>
            <a:ext cx="6977956" cy="5988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Detect plagiarism in both text and code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Provide accurate similarity scores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Reduce teachers’ workload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Encourage originality among students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Easy to extend, maintain, and deploy</a:t>
            </a:r>
          </a:p>
          <a:p>
            <a:pPr marL="342900" indent="-342900" algn="l">
              <a:lnSpc>
                <a:spcPts val="3545"/>
              </a:lnSpc>
              <a:buFont typeface="Arial" pitchFamily="34" charset="0"/>
              <a:buChar char="•"/>
            </a:pPr>
            <a:endParaRPr lang="en-US" sz="3600" b="1" dirty="0">
              <a:solidFill>
                <a:schemeClr val="bg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63098" y="1216600"/>
            <a:ext cx="7897914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54"/>
              </a:lnSpc>
              <a:spcBef>
                <a:spcPct val="0"/>
              </a:spcBef>
            </a:pPr>
            <a:r>
              <a:rPr lang="en-US" sz="6862" b="1" dirty="0" smtClean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Expected </a:t>
            </a:r>
            <a:endParaRPr lang="en-US" sz="6862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63098" y="2425175"/>
            <a:ext cx="7897914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54"/>
              </a:lnSpc>
              <a:spcBef>
                <a:spcPct val="0"/>
              </a:spcBef>
            </a:pPr>
            <a:r>
              <a:rPr lang="en-US" sz="6862" b="1" dirty="0" smtClean="0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Outcomes </a:t>
            </a:r>
            <a:endParaRPr lang="en-US" sz="6862" b="1" dirty="0">
              <a:solidFill>
                <a:srgbClr val="CB5E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10" t="17373" r="22423"/>
          <a:stretch/>
        </p:blipFill>
        <p:spPr>
          <a:xfrm>
            <a:off x="10058400" y="0"/>
            <a:ext cx="8229600" cy="10287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8381406" y="3924300"/>
            <a:ext cx="8954093" cy="5299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Paraphrased text with different wording may not be detected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Code plagiarism detection may miss </a:t>
            </a:r>
            <a:r>
              <a:rPr lang="en-US" sz="4000" b="1" dirty="0">
                <a:solidFill>
                  <a:schemeClr val="bg1"/>
                </a:solidFill>
              </a:rPr>
              <a:t>logic-level similarity</a:t>
            </a:r>
            <a:endParaRPr lang="en-US" sz="4000" dirty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Cannot fully detect plagiarism in </a:t>
            </a:r>
            <a:r>
              <a:rPr lang="en-US" sz="4000" b="1" dirty="0">
                <a:solidFill>
                  <a:schemeClr val="bg1"/>
                </a:solidFill>
              </a:rPr>
              <a:t>images or scanned PDFs</a:t>
            </a:r>
            <a:endParaRPr lang="en-US" sz="4000" dirty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Accuracy depends on </a:t>
            </a:r>
            <a:r>
              <a:rPr lang="en-US" sz="4000" b="1" dirty="0">
                <a:solidFill>
                  <a:schemeClr val="bg1"/>
                </a:solidFill>
              </a:rPr>
              <a:t>preprocessing and tokenization quality</a:t>
            </a:r>
            <a:endParaRPr lang="en-US" sz="4000" dirty="0">
              <a:solidFill>
                <a:schemeClr val="bg1"/>
              </a:solidFill>
            </a:endParaRPr>
          </a:p>
          <a:p>
            <a:pPr marL="457200" indent="-457200" algn="l">
              <a:lnSpc>
                <a:spcPts val="2829"/>
              </a:lnSpc>
              <a:buFont typeface="Arial" pitchFamily="34" charset="0"/>
              <a:buChar char="•"/>
            </a:pPr>
            <a:endParaRPr lang="en-US" sz="3600" b="1" dirty="0">
              <a:solidFill>
                <a:schemeClr val="bg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495707" y="1188025"/>
            <a:ext cx="872549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4"/>
              </a:lnSpc>
              <a:spcBef>
                <a:spcPct val="0"/>
              </a:spcBef>
            </a:pPr>
            <a:r>
              <a:rPr lang="en-US" sz="6339" b="1" dirty="0" smtClean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Limitations of the</a:t>
            </a:r>
            <a:endParaRPr lang="en-US" sz="6339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495707" y="2150348"/>
            <a:ext cx="628867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4"/>
              </a:lnSpc>
              <a:spcBef>
                <a:spcPct val="0"/>
              </a:spcBef>
            </a:pPr>
            <a:r>
              <a:rPr lang="en-US" sz="6339" b="1" dirty="0" smtClean="0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System</a:t>
            </a:r>
            <a:endParaRPr lang="en-US" sz="6339" b="1" dirty="0">
              <a:solidFill>
                <a:srgbClr val="CB5E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010400" cy="10287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1263097" y="3009900"/>
            <a:ext cx="7601043" cy="6017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600" dirty="0" err="1">
                <a:solidFill>
                  <a:schemeClr val="bg1"/>
                </a:solidFill>
              </a:rPr>
              <a:t>GitHub</a:t>
            </a:r>
            <a:r>
              <a:rPr lang="en-US" sz="3600" dirty="0">
                <a:solidFill>
                  <a:schemeClr val="bg1"/>
                </a:solidFill>
              </a:rPr>
              <a:t> was used to </a:t>
            </a:r>
            <a:r>
              <a:rPr lang="en-US" sz="3600" b="1" dirty="0">
                <a:solidFill>
                  <a:schemeClr val="bg1"/>
                </a:solidFill>
              </a:rPr>
              <a:t>manage and track project progress</a:t>
            </a:r>
            <a:endParaRPr lang="en-US" sz="3600" dirty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Each team member worked on </a:t>
            </a:r>
            <a:r>
              <a:rPr lang="en-US" sz="3600" b="1" dirty="0">
                <a:solidFill>
                  <a:schemeClr val="bg1"/>
                </a:solidFill>
              </a:rPr>
              <a:t>separate modules</a:t>
            </a:r>
            <a:endParaRPr lang="en-US" sz="3600" dirty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Enabled </a:t>
            </a:r>
            <a:r>
              <a:rPr lang="en-US" sz="3600" b="1" dirty="0">
                <a:solidFill>
                  <a:schemeClr val="bg1"/>
                </a:solidFill>
              </a:rPr>
              <a:t>easy collaboration and conflict prevention</a:t>
            </a:r>
            <a:endParaRPr lang="en-US" sz="3600" dirty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Maintained </a:t>
            </a:r>
            <a:r>
              <a:rPr lang="en-US" sz="3600" b="1" dirty="0">
                <a:solidFill>
                  <a:schemeClr val="bg1"/>
                </a:solidFill>
              </a:rPr>
              <a:t>version history and backups</a:t>
            </a:r>
            <a:endParaRPr lang="en-US" sz="3600" dirty="0">
              <a:solidFill>
                <a:schemeClr val="bg1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Simplified integration of modules into final system</a:t>
            </a:r>
          </a:p>
          <a:p>
            <a:pPr marL="457200" indent="-457200" algn="l">
              <a:lnSpc>
                <a:spcPts val="4011"/>
              </a:lnSpc>
              <a:buFont typeface="Arial" pitchFamily="34" charset="0"/>
              <a:buChar char="•"/>
            </a:pPr>
            <a:endParaRPr lang="en-US" sz="3200" b="1" dirty="0">
              <a:solidFill>
                <a:schemeClr val="bg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63098" y="1207075"/>
            <a:ext cx="7897914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7"/>
              </a:lnSpc>
              <a:spcBef>
                <a:spcPct val="0"/>
              </a:spcBef>
            </a:pPr>
            <a:r>
              <a:rPr lang="en-US" sz="7962" b="1" dirty="0" smtClean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Collaboration</a:t>
            </a:r>
            <a:endParaRPr lang="en-US" sz="7962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80" y="0"/>
            <a:ext cx="8961120" cy="10287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790" y="647700"/>
            <a:ext cx="12675810" cy="897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7185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310</Words>
  <Application>Microsoft Office PowerPoint</Application>
  <PresentationFormat>Custom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Open Sans Medium</vt:lpstr>
      <vt:lpstr>Poppins Medium</vt:lpstr>
      <vt:lpstr>Calibri</vt:lpstr>
      <vt:lpstr>Poppins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Technologies Used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Modern Project Presentation</dc:title>
  <cp:lastModifiedBy>ZM LAPTOPS</cp:lastModifiedBy>
  <cp:revision>21</cp:revision>
  <dcterms:created xsi:type="dcterms:W3CDTF">2006-08-16T00:00:00Z</dcterms:created>
  <dcterms:modified xsi:type="dcterms:W3CDTF">2025-12-13T16:57:24Z</dcterms:modified>
  <dc:identifier>DAG6pUD2Wok</dc:identifier>
</cp:coreProperties>
</file>